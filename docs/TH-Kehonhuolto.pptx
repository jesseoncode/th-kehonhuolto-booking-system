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A8B00-8427-411B-8E77-3F23A2DBA9C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2507C-A054-42E5-AB1F-FF5E4D0B71B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32213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2507C-A054-42E5-AB1F-FF5E4D0B71B9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15960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826116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4878018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2467191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331449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71924240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086731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5835596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8528252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Lisää kuva napsauttamalla kuvaketta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386033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642519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9456394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38E7C-77AD-4472-855B-26A7E7E1C665}" type="datetimeFigureOut">
              <a:rPr lang="fi-FI" smtClean="0"/>
              <a:t>25.2.2026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F2D22-B9AF-4700-9649-303AA15CB85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69862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esseOnCode/th-kehonhuolto-booking-system/blob/main/docs/tietoturvadokumentaatio.m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36A7698-F99A-B551-4EAC-00E3E3498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53464"/>
            <a:ext cx="9144000" cy="2387600"/>
          </a:xfrm>
        </p:spPr>
        <p:txBody>
          <a:bodyPr/>
          <a:lstStyle/>
          <a:p>
            <a:r>
              <a:rPr lang="fi-FI" dirty="0"/>
              <a:t>TH-Kehonhuolto	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36E17975-9564-A5A8-10D2-43EC5DACD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277" y="5121514"/>
            <a:ext cx="9144000" cy="1643434"/>
          </a:xfrm>
        </p:spPr>
        <p:txBody>
          <a:bodyPr>
            <a:normAutofit lnSpcReduction="10000"/>
          </a:bodyPr>
          <a:lstStyle/>
          <a:p>
            <a:r>
              <a:rPr lang="fi-FI" dirty="0"/>
              <a:t>Tekijät:</a:t>
            </a:r>
          </a:p>
          <a:p>
            <a:r>
              <a:rPr lang="fi-FI" dirty="0"/>
              <a:t>Jesse Haapaniemi</a:t>
            </a:r>
          </a:p>
          <a:p>
            <a:r>
              <a:rPr lang="fi-FI" dirty="0"/>
              <a:t>Joonas Eskelinen</a:t>
            </a:r>
          </a:p>
          <a:p>
            <a:r>
              <a:rPr lang="fi-FI" dirty="0"/>
              <a:t>Tomi </a:t>
            </a:r>
            <a:r>
              <a:rPr lang="fi-FI" dirty="0" err="1"/>
              <a:t>Husso</a:t>
            </a:r>
            <a:endParaRPr lang="fi-FI" dirty="0"/>
          </a:p>
          <a:p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F4491E7B-CC78-E498-E46B-16E3C0534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660" y="78289"/>
            <a:ext cx="3807912" cy="32630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Alaotsikko 2">
            <a:extLst>
              <a:ext uri="{FF2B5EF4-FFF2-40B4-BE49-F238E27FC236}">
                <a16:creationId xmlns:a16="http://schemas.microsoft.com/office/drawing/2014/main" id="{55079CF2-2BA4-6BA1-BE2D-E07A1B2B33CC}"/>
              </a:ext>
            </a:extLst>
          </p:cNvPr>
          <p:cNvSpPr txBox="1">
            <a:spLocks/>
          </p:cNvSpPr>
          <p:nvPr/>
        </p:nvSpPr>
        <p:spPr>
          <a:xfrm>
            <a:off x="1336277" y="4441064"/>
            <a:ext cx="9144000" cy="535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dirty="0"/>
              <a:t>Ajanvarausjärjestelmä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2309966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3C93FB1-1AE6-D885-3267-34367EF1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Tiivistelmä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F66AB0B-F2C3-D68E-4690-ACCE84D06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Toteutimme ajanvarausjärjestelmän hierontayritykselle</a:t>
            </a:r>
          </a:p>
          <a:p>
            <a:r>
              <a:rPr lang="fi-FI" dirty="0"/>
              <a:t>Tavoitteena oli luoda helppokäyttöinen ja selkeä järjestelmä, jonka avulla asiakkaat voivat varata aikoja ja yritys hallita varauksia tehokkaasti</a:t>
            </a:r>
          </a:p>
          <a:p>
            <a:r>
              <a:rPr lang="fi-FI" dirty="0"/>
              <a:t>Suunnittelimme tietokannan, käyttöliittymän ja järjestelmän toiminnallisuudet sekä testasimme ohjelman käytettävyyden ja toimivuuden</a:t>
            </a:r>
          </a:p>
        </p:txBody>
      </p:sp>
    </p:spTree>
    <p:extLst>
      <p:ext uri="{BB962C8B-B14F-4D97-AF65-F5344CB8AC3E}">
        <p14:creationId xmlns:p14="http://schemas.microsoft.com/office/powerpoint/2010/main" val="421442374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36F2B01-6FFF-761F-E294-7507B08C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Projektisuunnitelma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5DCFA69-95A5-474E-BBF4-97D7A5F11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Aluksi suunnittelimme projektin tavoitteet, aikataulun ja työnjaon</a:t>
            </a:r>
          </a:p>
          <a:p>
            <a:r>
              <a:rPr lang="fi-FI" dirty="0"/>
              <a:t>Suunnitelmassa päätettiin myös toteutettavista toiminnallisuuksista sekä versionhallintaan käytettävästä ohjelmasta (GitHub).</a:t>
            </a:r>
          </a:p>
        </p:txBody>
      </p:sp>
    </p:spTree>
    <p:extLst>
      <p:ext uri="{BB962C8B-B14F-4D97-AF65-F5344CB8AC3E}">
        <p14:creationId xmlns:p14="http://schemas.microsoft.com/office/powerpoint/2010/main" val="228688323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D3100D4-7174-1A9A-E233-CE389E241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Työnjako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D1A47A2-7174-E274-D7C7-D610C4977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i-FI" dirty="0"/>
              <a:t>Tomi </a:t>
            </a:r>
            <a:r>
              <a:rPr lang="fi-FI" dirty="0" err="1"/>
              <a:t>Husso</a:t>
            </a:r>
            <a:r>
              <a:rPr lang="fi-FI" dirty="0"/>
              <a:t>: </a:t>
            </a:r>
            <a:r>
              <a:rPr lang="fi-FI" dirty="0" err="1"/>
              <a:t>Backend</a:t>
            </a:r>
            <a:r>
              <a:rPr lang="fi-FI" dirty="0"/>
              <a:t>-kehittäjä (Projektipäällikkö)</a:t>
            </a:r>
          </a:p>
          <a:p>
            <a:pPr>
              <a:buFontTx/>
              <a:buChar char="-"/>
            </a:pPr>
            <a:r>
              <a:rPr lang="fi-FI" dirty="0"/>
              <a:t>Vastaa järjestelmän toiminnasta</a:t>
            </a:r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r>
              <a:rPr lang="fi-FI" dirty="0"/>
              <a:t>Jesse Haapaniemi: Tietokannat ja Dokumentointi</a:t>
            </a:r>
          </a:p>
          <a:p>
            <a:pPr marL="0" indent="0">
              <a:buNone/>
            </a:pPr>
            <a:r>
              <a:rPr lang="fi-FI" dirty="0"/>
              <a:t>-  Järjestelmän datan rakenne ja ER-kaavion suunnittelu</a:t>
            </a:r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r>
              <a:rPr lang="fi-FI" dirty="0"/>
              <a:t>Joonas Eskelinen: </a:t>
            </a:r>
            <a:r>
              <a:rPr lang="fi-FI" dirty="0" err="1"/>
              <a:t>Frontend</a:t>
            </a:r>
            <a:r>
              <a:rPr lang="fi-FI" dirty="0"/>
              <a:t>-kehittäjä</a:t>
            </a:r>
          </a:p>
          <a:p>
            <a:pPr marL="0" indent="0">
              <a:buNone/>
            </a:pPr>
            <a:r>
              <a:rPr lang="fi-FI" dirty="0"/>
              <a:t>- </a:t>
            </a:r>
            <a:r>
              <a:rPr lang="fi-FI" dirty="0" err="1"/>
              <a:t>Käyttölittymän</a:t>
            </a:r>
            <a:r>
              <a:rPr lang="fi-FI" dirty="0"/>
              <a:t> suunnittelu (HTML/CSS) ja varaustiedon välittäminen   lomakkeilta </a:t>
            </a:r>
            <a:r>
              <a:rPr lang="fi-FI" dirty="0" err="1"/>
              <a:t>backendille</a:t>
            </a:r>
            <a:endParaRPr lang="fi-FI" dirty="0"/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73046935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FAD8F8F-9653-4878-A5DA-98A14712A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Käytettävät teknologiat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36D5AA9-9809-EDF6-47E2-2BA1C3B8F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b="1" dirty="0"/>
              <a:t>Ohjelmointikieli (</a:t>
            </a:r>
            <a:r>
              <a:rPr lang="fi-FI" b="1" dirty="0" err="1"/>
              <a:t>backend</a:t>
            </a:r>
            <a:r>
              <a:rPr lang="fi-FI" b="1" dirty="0"/>
              <a:t>):</a:t>
            </a:r>
            <a:r>
              <a:rPr lang="fi-FI" dirty="0"/>
              <a:t> PHP + JavaScript</a:t>
            </a:r>
          </a:p>
          <a:p>
            <a:r>
              <a:rPr lang="fi-FI" b="1" dirty="0"/>
              <a:t>Tietokanta:</a:t>
            </a:r>
            <a:r>
              <a:rPr lang="fi-FI" dirty="0"/>
              <a:t> MySQL / </a:t>
            </a:r>
            <a:r>
              <a:rPr lang="fi-FI" dirty="0" err="1"/>
              <a:t>MariaDB</a:t>
            </a:r>
            <a:endParaRPr lang="fi-FI" dirty="0"/>
          </a:p>
          <a:p>
            <a:r>
              <a:rPr lang="fi-FI" b="1" dirty="0" err="1"/>
              <a:t>Frontend</a:t>
            </a:r>
            <a:r>
              <a:rPr lang="fi-FI" b="1" dirty="0"/>
              <a:t>:</a:t>
            </a:r>
            <a:r>
              <a:rPr lang="fi-FI" dirty="0"/>
              <a:t> HTML, CSS, JavaScript</a:t>
            </a:r>
          </a:p>
          <a:p>
            <a:r>
              <a:rPr lang="fi-FI" b="1" dirty="0"/>
              <a:t>Versionhallinta:</a:t>
            </a:r>
            <a:r>
              <a:rPr lang="fi-FI" dirty="0"/>
              <a:t> GitHub</a:t>
            </a:r>
          </a:p>
          <a:p>
            <a:r>
              <a:rPr lang="fi-FI" b="1" dirty="0"/>
              <a:t>Palvelinympäristö:</a:t>
            </a:r>
            <a:r>
              <a:rPr lang="fi-FI" dirty="0"/>
              <a:t> Apache (XAMPP) kehitysvaiheessa. Valmis projekti webhotellissa. Menee osaksi TH-kehonhuollon kotisivuja.</a:t>
            </a:r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18292780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9840099-8149-F5DC-BD82-916FFD39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ER-kaavio</a:t>
            </a:r>
          </a:p>
        </p:txBody>
      </p:sp>
      <p:pic>
        <p:nvPicPr>
          <p:cNvPr id="5" name="Sisällön paikkamerkki 4">
            <a:extLst>
              <a:ext uri="{FF2B5EF4-FFF2-40B4-BE49-F238E27FC236}">
                <a16:creationId xmlns:a16="http://schemas.microsoft.com/office/drawing/2014/main" id="{DA20C110-1F85-DC12-96FB-58D832FFB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75232"/>
            <a:ext cx="10110216" cy="501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7964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AF6EE71-324B-D1FA-3304-25D88BFB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Tietokanta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78D3C49-9EA7-9240-8DEA-CD69505DA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Tietokannan ER-kaavio ja suhteet: Keskeinen </a:t>
            </a:r>
            <a:r>
              <a:rPr lang="fi-FI" dirty="0" err="1"/>
              <a:t>Treatments</a:t>
            </a:r>
            <a:r>
              <a:rPr lang="fi-FI" dirty="0"/>
              <a:t>-taulu: Järjestelmän ytimessä on palveluluettelo (</a:t>
            </a:r>
            <a:r>
              <a:rPr lang="fi-FI" dirty="0" err="1"/>
              <a:t>treatments</a:t>
            </a:r>
            <a:r>
              <a:rPr lang="fi-FI" dirty="0"/>
              <a:t>), joka määrittää hoidot, hinnat ja kestot.</a:t>
            </a:r>
          </a:p>
          <a:p>
            <a:r>
              <a:rPr lang="fi-FI" dirty="0"/>
              <a:t>Relatiiviset suhteet: (</a:t>
            </a:r>
            <a:r>
              <a:rPr lang="fi-FI" dirty="0" err="1"/>
              <a:t>available_times</a:t>
            </a:r>
            <a:r>
              <a:rPr lang="fi-FI" dirty="0"/>
              <a:t>) ja tehdyt varaukset (</a:t>
            </a:r>
            <a:r>
              <a:rPr lang="fi-FI" dirty="0" err="1"/>
              <a:t>appointments</a:t>
            </a:r>
            <a:r>
              <a:rPr lang="fi-FI" dirty="0"/>
              <a:t>) on linkitetty palveluihin </a:t>
            </a:r>
            <a:r>
              <a:rPr lang="fi-FI" dirty="0" err="1"/>
              <a:t>treatment_id</a:t>
            </a:r>
            <a:r>
              <a:rPr lang="fi-FI" dirty="0"/>
              <a:t>-viiteavaimen avulla.</a:t>
            </a:r>
          </a:p>
          <a:p>
            <a:r>
              <a:rPr lang="fi-FI" dirty="0"/>
              <a:t>Ylläpito: (</a:t>
            </a:r>
            <a:r>
              <a:rPr lang="fi-FI" dirty="0" err="1"/>
              <a:t>admins</a:t>
            </a:r>
            <a:r>
              <a:rPr lang="fi-FI" dirty="0"/>
              <a:t> –taulu) on tietoisesti erillään muusta datasta. Se palvelee ainoastaan tunnistautumista, mikä parantaa järjestelmän turvallisuutta.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82184129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231B17F-C0A9-168D-CAE7-E9C441DC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Tietoturva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643881C-6B20-9E2D-A0BB-A202C2F07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fi-FI" b="1" dirty="0"/>
              <a:t>SQL-injektioiden esto (</a:t>
            </a:r>
            <a:r>
              <a:rPr lang="fi-FI" b="1" dirty="0" err="1"/>
              <a:t>SQLi</a:t>
            </a:r>
            <a:r>
              <a:rPr lang="fi-FI" b="1" dirty="0"/>
              <a:t>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fi-FI" b="1" dirty="0"/>
              <a:t>XSS-suojaus (Cross-</a:t>
            </a:r>
            <a:r>
              <a:rPr lang="fi-FI" b="1" dirty="0" err="1"/>
              <a:t>Site</a:t>
            </a:r>
            <a:r>
              <a:rPr lang="fi-FI" b="1" dirty="0"/>
              <a:t> Scripting)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 dirty="0"/>
              <a:t>CSRF-</a:t>
            </a:r>
            <a:r>
              <a:rPr lang="en-US" b="1" dirty="0" err="1"/>
              <a:t>suojaus</a:t>
            </a:r>
            <a:r>
              <a:rPr lang="en-US" b="1" dirty="0"/>
              <a:t> (Cross-Site Request Forgery)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 dirty="0"/>
              <a:t>Brute Force ja Rate Limiting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fi-FI" b="1" dirty="0"/>
              <a:t>Tietojen eheys ja transaktiot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fi-FI" b="1" dirty="0"/>
              <a:t>Syötteiden käsittely</a:t>
            </a:r>
            <a:endParaRPr lang="en-US" b="1" dirty="0"/>
          </a:p>
          <a:p>
            <a:pPr marL="0" indent="0">
              <a:buNone/>
            </a:pPr>
            <a:r>
              <a:rPr lang="fi-FI" b="1" dirty="0"/>
              <a:t>GitHub: </a:t>
            </a:r>
            <a:r>
              <a:rPr lang="fi-FI" b="1" dirty="0">
                <a:hlinkClick r:id="rId2"/>
              </a:rPr>
              <a:t>https://github.com/JesseOnCode/th-kehonhuolto-booking-system/blob/main/docs/tietoturvadokumentaatio.md</a:t>
            </a:r>
            <a:endParaRPr lang="fi-FI" b="1" dirty="0"/>
          </a:p>
          <a:p>
            <a:pPr marL="514350" indent="-514350">
              <a:buAutoNum type="arabicPeriod"/>
            </a:pPr>
            <a:endParaRPr lang="fi-FI" b="1" dirty="0"/>
          </a:p>
          <a:p>
            <a:pPr marL="514350" indent="-514350">
              <a:buAutoNum type="arabicPeriod"/>
            </a:pPr>
            <a:endParaRPr lang="fi-FI" b="1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6075189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56306E4-37B3-657A-B1D0-0F076584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Järjestelmän toiminnallisuudet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66EB96E-B094-F56F-6C6E-0A8323DC8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b="1" dirty="0"/>
              <a:t>Asiakkaat: </a:t>
            </a:r>
            <a:r>
              <a:rPr lang="fi-FI" dirty="0"/>
              <a:t>Vapaiden hieronta-aikojen tarkastelu ja ajan varaaminen</a:t>
            </a:r>
          </a:p>
          <a:p>
            <a:pPr>
              <a:buFontTx/>
              <a:buChar char="-"/>
            </a:pPr>
            <a:endParaRPr lang="fi-FI" b="1" dirty="0"/>
          </a:p>
          <a:p>
            <a:r>
              <a:rPr lang="fi-FI" b="1" dirty="0"/>
              <a:t>Ajanvaraukset: </a:t>
            </a:r>
            <a:r>
              <a:rPr lang="fi-FI" dirty="0"/>
              <a:t>Varausten luominen, Varausten tarkastelu, Varausten peruminen, Päällekkäisten varausten estäminen</a:t>
            </a:r>
          </a:p>
          <a:p>
            <a:endParaRPr lang="fi-FI" b="1" dirty="0"/>
          </a:p>
          <a:p>
            <a:r>
              <a:rPr lang="fi-FI" b="1" dirty="0" err="1"/>
              <a:t>Admin</a:t>
            </a:r>
            <a:r>
              <a:rPr lang="fi-FI" b="1" dirty="0"/>
              <a:t>-hallintapaneeli: </a:t>
            </a:r>
            <a:r>
              <a:rPr lang="fi-FI" dirty="0"/>
              <a:t>Kirjautuminen hallintapaneeliin, Varausten tarkastelu ja hallinta, Työaikojen ja vapaiden aikojen määrittely</a:t>
            </a:r>
          </a:p>
          <a:p>
            <a:endParaRPr lang="fi-FI" b="1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72348583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7CE7839-F642-01F9-B140-54B06D20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b="1" dirty="0"/>
              <a:t>Aikataulu</a:t>
            </a:r>
            <a:br>
              <a:rPr lang="fi-FI" b="1" dirty="0"/>
            </a:b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DAD1F5D-D339-1E53-9D22-D386348A4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Viikko 1: Suunnittelu, tietokantamalli</a:t>
            </a:r>
          </a:p>
          <a:p>
            <a:pPr marL="0" indent="0">
              <a:buNone/>
            </a:pPr>
            <a:endParaRPr lang="fi-FI" dirty="0"/>
          </a:p>
          <a:p>
            <a:r>
              <a:rPr lang="fi-FI" dirty="0"/>
              <a:t>Viikko 2: </a:t>
            </a:r>
            <a:r>
              <a:rPr lang="fi-FI" dirty="0" err="1"/>
              <a:t>Backend</a:t>
            </a:r>
            <a:r>
              <a:rPr lang="fi-FI" dirty="0"/>
              <a:t>-kehitys ja </a:t>
            </a:r>
            <a:r>
              <a:rPr lang="fi-FI" dirty="0" err="1"/>
              <a:t>Frontend</a:t>
            </a:r>
            <a:r>
              <a:rPr lang="fi-FI" dirty="0"/>
              <a:t> kehitys</a:t>
            </a:r>
          </a:p>
          <a:p>
            <a:pPr marL="0" indent="0">
              <a:buNone/>
            </a:pPr>
            <a:endParaRPr lang="fi-FI" dirty="0"/>
          </a:p>
          <a:p>
            <a:r>
              <a:rPr lang="fi-FI" dirty="0"/>
              <a:t>Viikko 3: Testaus ja korjaus, dokumentointi</a:t>
            </a:r>
          </a:p>
        </p:txBody>
      </p:sp>
    </p:spTree>
    <p:extLst>
      <p:ext uri="{BB962C8B-B14F-4D97-AF65-F5344CB8AC3E}">
        <p14:creationId xmlns:p14="http://schemas.microsoft.com/office/powerpoint/2010/main" val="101121568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1B989EF-F2DF-B025-CAC5-51281DADC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Riskit ja haasteet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36CEED6-8B75-C574-DD5D-653A8C955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Aikataulun hallinta</a:t>
            </a:r>
          </a:p>
          <a:p>
            <a:r>
              <a:rPr lang="fi-FI" dirty="0"/>
              <a:t>Ajanvarausten päällekkäisyyksien estäminen</a:t>
            </a:r>
          </a:p>
          <a:p>
            <a:r>
              <a:rPr lang="fi-FI" dirty="0"/>
              <a:t>Tietokantavirheet</a:t>
            </a:r>
          </a:p>
          <a:p>
            <a:r>
              <a:rPr lang="fi-FI" dirty="0"/>
              <a:t>Versionhallintaan liittyvät ristiriidat (esim. </a:t>
            </a:r>
            <a:r>
              <a:rPr lang="fi-FI" dirty="0" err="1"/>
              <a:t>githubin</a:t>
            </a:r>
            <a:r>
              <a:rPr lang="fi-FI" dirty="0"/>
              <a:t> käyttö useamman ihmisen tiimissä)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9931289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F88EBB6-0D77-012D-E72A-F18EBE08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Yhteenveto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3F8A9C2-36E2-A9FF-B481-EDEBEBAFD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Saimme toteutettua yhden henkilön hierontayritykselle toimivan ja käytännöllisen ajanvarausjärjestelmän, osaksi yrityksen tulevia kotisivuja</a:t>
            </a:r>
          </a:p>
          <a:p>
            <a:r>
              <a:rPr lang="fi-FI" dirty="0"/>
              <a:t>Projektin aikana opimme versionhallintaa (GitHub), ohjelmistokehitystä, tietokantojen suunnittelua sekä tiimityöskentelyä.</a:t>
            </a:r>
          </a:p>
          <a:p>
            <a:r>
              <a:rPr lang="fi-FI" dirty="0"/>
              <a:t>Ajanvarausjärjestelmä onnistui halutulla tavalla ja saimme kaikki suunnitellut </a:t>
            </a:r>
            <a:r>
              <a:rPr lang="fi-FI" dirty="0" err="1"/>
              <a:t>toiminnalisuudet</a:t>
            </a:r>
            <a:r>
              <a:rPr lang="fi-FI" dirty="0"/>
              <a:t> projektiin.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73943003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eema">
  <a:themeElements>
    <a:clrScheme name="Office-te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</TotalTime>
  <Words>393</Words>
  <Application>Microsoft Office PowerPoint</Application>
  <PresentationFormat>Laajakuva</PresentationFormat>
  <Paragraphs>65</Paragraphs>
  <Slides>12</Slides>
  <Notes>1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Office-teema</vt:lpstr>
      <vt:lpstr>TH-Kehonhuolto </vt:lpstr>
      <vt:lpstr>Tiivistelmä</vt:lpstr>
      <vt:lpstr>Projektisuunnitelma</vt:lpstr>
      <vt:lpstr>Työnjako</vt:lpstr>
      <vt:lpstr>Käytettävät teknologiat</vt:lpstr>
      <vt:lpstr>ER-kaavio</vt:lpstr>
      <vt:lpstr>Tietokanta</vt:lpstr>
      <vt:lpstr>Tietoturva</vt:lpstr>
      <vt:lpstr>Järjestelmän toiminnallisuudet</vt:lpstr>
      <vt:lpstr>Aikataulu </vt:lpstr>
      <vt:lpstr>Riskit ja haasteet</vt:lpstr>
      <vt:lpstr>Yhteenveto</vt:lpstr>
    </vt:vector>
  </TitlesOfParts>
  <Company>Savon koulutuskuntayhtyma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HAAPANIEMI</dc:creator>
  <cp:lastModifiedBy>JESSE HAAPANIEMI</cp:lastModifiedBy>
  <cp:revision>1</cp:revision>
  <dcterms:created xsi:type="dcterms:W3CDTF">2026-02-25T14:40:51Z</dcterms:created>
  <dcterms:modified xsi:type="dcterms:W3CDTF">2026-02-25T16:14:10Z</dcterms:modified>
</cp:coreProperties>
</file>